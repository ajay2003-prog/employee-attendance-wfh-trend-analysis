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69" r:id="rId2"/>
    <p:sldId id="258" r:id="rId3"/>
    <p:sldId id="270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6F6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B6602B-1B4B-4B02-97B1-68D7C3846A84}" v="1" dt="2026-01-19T07:55:2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sai" userId="c76d7abdd17b6748" providerId="LiveId" clId="{2B757F96-0400-4441-89D6-6082D1234E11}"/>
    <pc:docChg chg="custSel addSld delSld modSld modMainMaster">
      <pc:chgData name="Ajay sai" userId="c76d7abdd17b6748" providerId="LiveId" clId="{2B757F96-0400-4441-89D6-6082D1234E11}" dt="2026-01-19T07:59:06.165" v="162" actId="20577"/>
      <pc:docMkLst>
        <pc:docMk/>
      </pc:docMkLst>
      <pc:sldChg chg="setBg">
        <pc:chgData name="Ajay sai" userId="c76d7abdd17b6748" providerId="LiveId" clId="{2B757F96-0400-4441-89D6-6082D1234E11}" dt="2026-01-19T07:55:28.343" v="13"/>
        <pc:sldMkLst>
          <pc:docMk/>
          <pc:sldMk cId="874467692" sldId="257"/>
        </pc:sldMkLst>
      </pc:sldChg>
      <pc:sldChg chg="modSp mod setBg">
        <pc:chgData name="Ajay sai" userId="c76d7abdd17b6748" providerId="LiveId" clId="{2B757F96-0400-4441-89D6-6082D1234E11}" dt="2026-01-19T07:55:28.343" v="13"/>
        <pc:sldMkLst>
          <pc:docMk/>
          <pc:sldMk cId="1709058118" sldId="258"/>
        </pc:sldMkLst>
        <pc:spChg chg="mod">
          <ac:chgData name="Ajay sai" userId="c76d7abdd17b6748" providerId="LiveId" clId="{2B757F96-0400-4441-89D6-6082D1234E11}" dt="2026-01-19T07:54:58.804" v="10" actId="20577"/>
          <ac:spMkLst>
            <pc:docMk/>
            <pc:sldMk cId="1709058118" sldId="258"/>
            <ac:spMk id="12" creationId="{DEC81761-C3C7-94FE-B8EB-D99B71418B3D}"/>
          </ac:spMkLst>
        </pc:spChg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3406666327" sldId="259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2299013276" sldId="260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1684123907" sldId="261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1686896948" sldId="262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1325818414" sldId="263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230515849" sldId="264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3603193583" sldId="266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1666753950" sldId="267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44552141" sldId="268"/>
        </pc:sldMkLst>
      </pc:sldChg>
      <pc:sldChg chg="setBg">
        <pc:chgData name="Ajay sai" userId="c76d7abdd17b6748" providerId="LiveId" clId="{2B757F96-0400-4441-89D6-6082D1234E11}" dt="2026-01-19T07:55:28.343" v="13"/>
        <pc:sldMkLst>
          <pc:docMk/>
          <pc:sldMk cId="2539835780" sldId="269"/>
        </pc:sldMkLst>
      </pc:sldChg>
      <pc:sldChg chg="modSp new mod">
        <pc:chgData name="Ajay sai" userId="c76d7abdd17b6748" providerId="LiveId" clId="{2B757F96-0400-4441-89D6-6082D1234E11}" dt="2026-01-19T07:59:06.165" v="162" actId="20577"/>
        <pc:sldMkLst>
          <pc:docMk/>
          <pc:sldMk cId="1739707230" sldId="270"/>
        </pc:sldMkLst>
        <pc:spChg chg="mod">
          <ac:chgData name="Ajay sai" userId="c76d7abdd17b6748" providerId="LiveId" clId="{2B757F96-0400-4441-89D6-6082D1234E11}" dt="2026-01-19T07:58:03.832" v="72" actId="122"/>
          <ac:spMkLst>
            <pc:docMk/>
            <pc:sldMk cId="1739707230" sldId="270"/>
            <ac:spMk id="2" creationId="{FB73AB2D-E246-D01C-8240-3243B5000D7A}"/>
          </ac:spMkLst>
        </pc:spChg>
        <pc:spChg chg="mod">
          <ac:chgData name="Ajay sai" userId="c76d7abdd17b6748" providerId="LiveId" clId="{2B757F96-0400-4441-89D6-6082D1234E11}" dt="2026-01-19T07:59:06.165" v="162" actId="20577"/>
          <ac:spMkLst>
            <pc:docMk/>
            <pc:sldMk cId="1739707230" sldId="270"/>
            <ac:spMk id="3" creationId="{564B4425-3EF3-42D3-7DE5-F9B152F66091}"/>
          </ac:spMkLst>
        </pc:spChg>
      </pc:sldChg>
      <pc:sldChg chg="addSp delSp modSp new del mod modClrScheme chgLayout">
        <pc:chgData name="Ajay sai" userId="c76d7abdd17b6748" providerId="LiveId" clId="{2B757F96-0400-4441-89D6-6082D1234E11}" dt="2026-01-19T07:57:36.463" v="56" actId="2696"/>
        <pc:sldMkLst>
          <pc:docMk/>
          <pc:sldMk cId="3386758199" sldId="270"/>
        </pc:sldMkLst>
        <pc:spChg chg="del mod ord">
          <ac:chgData name="Ajay sai" userId="c76d7abdd17b6748" providerId="LiveId" clId="{2B757F96-0400-4441-89D6-6082D1234E11}" dt="2026-01-19T07:55:25.247" v="12" actId="700"/>
          <ac:spMkLst>
            <pc:docMk/>
            <pc:sldMk cId="3386758199" sldId="270"/>
            <ac:spMk id="2" creationId="{A9663B27-5828-95DD-1766-22AEC74A1224}"/>
          </ac:spMkLst>
        </pc:spChg>
        <pc:spChg chg="del">
          <ac:chgData name="Ajay sai" userId="c76d7abdd17b6748" providerId="LiveId" clId="{2B757F96-0400-4441-89D6-6082D1234E11}" dt="2026-01-19T07:55:25.247" v="12" actId="700"/>
          <ac:spMkLst>
            <pc:docMk/>
            <pc:sldMk cId="3386758199" sldId="270"/>
            <ac:spMk id="3" creationId="{8E6DC7F7-2552-E7DD-BE3E-CD1EF0B84AED}"/>
          </ac:spMkLst>
        </pc:spChg>
        <pc:spChg chg="add mod ord">
          <ac:chgData name="Ajay sai" userId="c76d7abdd17b6748" providerId="LiveId" clId="{2B757F96-0400-4441-89D6-6082D1234E11}" dt="2026-01-19T07:57:28.347" v="55" actId="27636"/>
          <ac:spMkLst>
            <pc:docMk/>
            <pc:sldMk cId="3386758199" sldId="270"/>
            <ac:spMk id="4" creationId="{CA9AC9DB-C26A-B05D-C5DD-915DD4A2D7AF}"/>
          </ac:spMkLst>
        </pc:spChg>
        <pc:spChg chg="add mod ord">
          <ac:chgData name="Ajay sai" userId="c76d7abdd17b6748" providerId="LiveId" clId="{2B757F96-0400-4441-89D6-6082D1234E11}" dt="2026-01-19T07:57:13.158" v="47" actId="700"/>
          <ac:spMkLst>
            <pc:docMk/>
            <pc:sldMk cId="3386758199" sldId="270"/>
            <ac:spMk id="5" creationId="{76C50BF9-91B3-0554-8C87-1650D43D1B4E}"/>
          </ac:spMkLst>
        </pc:spChg>
      </pc:sldChg>
      <pc:sldMasterChg chg="setBg modSldLayout">
        <pc:chgData name="Ajay sai" userId="c76d7abdd17b6748" providerId="LiveId" clId="{2B757F96-0400-4441-89D6-6082D1234E11}" dt="2026-01-19T07:55:28.343" v="13"/>
        <pc:sldMasterMkLst>
          <pc:docMk/>
          <pc:sldMasterMk cId="1279861800" sldId="2147483845"/>
        </pc:sldMasterMkLst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3539338025" sldId="2147483846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65357030" sldId="2147483847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1904690160" sldId="2147483848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2292327627" sldId="2147483849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3678425072" sldId="2147483850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2551014927" sldId="2147483851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1415962386" sldId="2147483852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916206824" sldId="2147483853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3934022968" sldId="2147483854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1053150374" sldId="2147483855"/>
          </pc:sldLayoutMkLst>
        </pc:sldLayoutChg>
        <pc:sldLayoutChg chg="setBg">
          <pc:chgData name="Ajay sai" userId="c76d7abdd17b6748" providerId="LiveId" clId="{2B757F96-0400-4441-89D6-6082D1234E11}" dt="2026-01-19T07:55:28.343" v="13"/>
          <pc:sldLayoutMkLst>
            <pc:docMk/>
            <pc:sldMasterMk cId="1279861800" sldId="2147483845"/>
            <pc:sldLayoutMk cId="1910575391" sldId="214748385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33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5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9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32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42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01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96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20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022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15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7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F0C4A39-E606-4A28-BD05-A3EF35CC562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ABFF659-744D-4DBB-B5E1-D097970C5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6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FEE-C0B8-D7E0-4F05-C6777E31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Attendance &amp; WFH Trend Analysis</a:t>
            </a:r>
            <a:endParaRPr lang="en-IN" sz="32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A6F6-D31C-8C8D-819E-E82EBA14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    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Ajay Sai Phaneendra Reddy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3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C749-D486-DC33-6F85-FB3C1892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6CB89D3-81F6-A74C-009A-DF3212E1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5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C81761-C3C7-94FE-B8EB-D99B7141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994" y="1690688"/>
            <a:ext cx="9770805" cy="448627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 : Present Percentage &amp; Day of the week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 : Work From Home (WFH) Percentage &amp; Day of the week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 : Sick Leave(SL) Percentage &amp; Day of the week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 : Present Percentage Trend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 : Work From Home Trend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6 : Sick Leave Trend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7 :  Tables Of the Percentages Of Employees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2000" dirty="0"/>
          </a:p>
        </p:txBody>
      </p:sp>
      <p:pic>
        <p:nvPicPr>
          <p:cNvPr id="13" name="Graphic 12" descr="Open book with solid fill">
            <a:extLst>
              <a:ext uri="{FF2B5EF4-FFF2-40B4-BE49-F238E27FC236}">
                <a16:creationId xmlns:a16="http://schemas.microsoft.com/office/drawing/2014/main" id="{B60ECC7A-3FE4-71CC-7046-2A8BB49A5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84" y="0"/>
            <a:ext cx="2458064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5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AB2D-E246-D01C-8240-3243B500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tx1"/>
                </a:solidFill>
                <a:latin typeface="Times New Roman "/>
              </a:rPr>
              <a:t>Objectives</a:t>
            </a:r>
            <a:endParaRPr lang="en-IN" sz="3200" u="sng" dirty="0">
              <a:solidFill>
                <a:schemeClr val="tx1"/>
              </a:solidFill>
              <a:latin typeface="Times New Roman 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B4425-3EF3-42D3-7DE5-F9B152F66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Working Preference of Employees?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the WFH &amp; SL percentages?</a:t>
            </a:r>
          </a:p>
        </p:txBody>
      </p:sp>
    </p:spTree>
    <p:extLst>
      <p:ext uri="{BB962C8B-B14F-4D97-AF65-F5344CB8AC3E}">
        <p14:creationId xmlns:p14="http://schemas.microsoft.com/office/powerpoint/2010/main" val="173970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668F3-F913-16F4-2AAD-763A0094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490"/>
            <a:ext cx="10300160" cy="14256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1 : Present Percentage &amp; Day Of  The Week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9519EB8-3D65-8C69-0764-C1FE342D9E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18" y="3070180"/>
            <a:ext cx="4633362" cy="298729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441DB4-67D7-231A-2613-9EFF906CD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6656" y="1641988"/>
            <a:ext cx="6323912" cy="48011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Present % is 91.9%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Monday &amp; Tuesday shows the Highest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 has relatively lower presence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team activities &amp; client meetings on Mon-Tue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critical meetings on Friday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7A21638E-0708-D740-7D55-9643A55B5C8C}"/>
              </a:ext>
            </a:extLst>
          </p:cNvPr>
          <p:cNvSpPr txBox="1"/>
          <p:nvPr/>
        </p:nvSpPr>
        <p:spPr>
          <a:xfrm>
            <a:off x="7430818" y="1902540"/>
            <a:ext cx="4633361" cy="887422"/>
          </a:xfrm>
          <a:prstGeom prst="rect">
            <a:avLst/>
          </a:prstGeom>
          <a:solidFill>
            <a:srgbClr val="F0F1F5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solidFill>
                  <a:srgbClr val="37CC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91.9%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2000" spc="-45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000" spc="-55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46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BD5E4A-D3DE-6FCE-6277-837AC138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2 : Work From Home (WFH) Percentage &amp; Day of the week</a:t>
            </a:r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</a:t>
            </a:r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839CB8EC-1760-DE2F-D379-B895D2CEEE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747819" y="3313623"/>
            <a:ext cx="3929831" cy="2456429"/>
          </a:xfr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9EF2ECE-82FF-C77C-8ECF-C943A71EB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5419344" cy="376732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WFH percentage is 9.9%.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 shows the Highest WFH percent.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Tuesday shows the lowest WFH percent.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prefer more WFH on Thursday &amp; Friday.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earlier Slide conclusions the present percent is more strong on (Mon-Wed)</a:t>
            </a: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71936EF3-357D-A905-61EA-46AB32EC1437}"/>
              </a:ext>
            </a:extLst>
          </p:cNvPr>
          <p:cNvSpPr txBox="1"/>
          <p:nvPr/>
        </p:nvSpPr>
        <p:spPr>
          <a:xfrm>
            <a:off x="7855974" y="1998134"/>
            <a:ext cx="3274141" cy="887422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118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9.9%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2000" spc="-65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WFH </a:t>
            </a:r>
            <a:r>
              <a:rPr sz="2000" spc="80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66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0998-B377-2136-BE12-2E267456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3 : Sick Leave(SL) Percentage &amp; Day of the week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BE4EF-5BF3-3296-C92C-12DFAFA194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SL percentage is 1.2%.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showing decline trend from Mon-Fri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Fridays shows the lowest WFH percent.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SL% is decreasing as the week progresses.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some corrective actions on (Mon-Wed)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reduce the overall SL%</a:t>
            </a:r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C4C60E-7E0A-4F9B-1CE2-327E4E0CB6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13" y="3642004"/>
            <a:ext cx="3062286" cy="1628216"/>
          </a:xfr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BC74E87D-16D3-B3FD-5BD0-F695B0BCC373}"/>
              </a:ext>
            </a:extLst>
          </p:cNvPr>
          <p:cNvSpPr txBox="1"/>
          <p:nvPr/>
        </p:nvSpPr>
        <p:spPr>
          <a:xfrm>
            <a:off x="8436078" y="1998134"/>
            <a:ext cx="2841522" cy="887422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000" b="1" spc="-20" dirty="0">
                <a:solidFill>
                  <a:srgbClr val="E66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" algn="ctr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</a:t>
            </a:r>
            <a:r>
              <a:rPr sz="2000" spc="-5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solidFill>
                  <a:srgbClr val="4E4E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01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792A-3873-A813-AF78-ACBB8DF3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4 : Present Percentage Trend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384F8-6EE4-20F0-B837-3B52C6120E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Trend is going slightly downward movement.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downward trend are Observed in mid- May.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relative stability during  June.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trend line indicates a mild decline not a significant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 mid-May is influencing because of summer factor.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 of minor fluctuations the trend remains stable.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0AB4E4-489F-EB2C-D97B-6264EF9A1F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97627"/>
            <a:ext cx="5614219" cy="2968276"/>
          </a:xfrm>
        </p:spPr>
      </p:pic>
    </p:spTree>
    <p:extLst>
      <p:ext uri="{BB962C8B-B14F-4D97-AF65-F5344CB8AC3E}">
        <p14:creationId xmlns:p14="http://schemas.microsoft.com/office/powerpoint/2010/main" val="168412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A37C-BB5D-68DF-864E-7062C996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5 : Work From Home Trend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1883-B669-30E3-5891-85E391EF0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WFH % shows frequent fluctuations throughout the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% was showing in May.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WFH levels shows relatively stable toward June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overall trend remains increasing movement.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dips indicate the Seasonal factors (or)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June employees are more interested to do WFH .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9E28F7-0023-6B2C-EEA8-2CB0559E24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87" y="2077388"/>
            <a:ext cx="5320789" cy="2703223"/>
          </a:xfrm>
        </p:spPr>
      </p:pic>
    </p:spTree>
    <p:extLst>
      <p:ext uri="{BB962C8B-B14F-4D97-AF65-F5344CB8AC3E}">
        <p14:creationId xmlns:p14="http://schemas.microsoft.com/office/powerpoint/2010/main" val="168689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8F0D-4111-3CA0-895B-6AEF175B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6 : Sick Leave Trend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7BDE-10B2-F7BB-EBEF-AE6AC3E824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 % shows intermittent fluctuations throughout the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% is observed during May-June.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short-term spikes are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overall trend shows upward.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increasing in the May-June and again it consists of seasonal factors.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884416-C64D-8370-F20A-41FC21C0DC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863" y="1998135"/>
            <a:ext cx="5688524" cy="2702136"/>
          </a:xfrm>
        </p:spPr>
      </p:pic>
    </p:spTree>
    <p:extLst>
      <p:ext uri="{BB962C8B-B14F-4D97-AF65-F5344CB8AC3E}">
        <p14:creationId xmlns:p14="http://schemas.microsoft.com/office/powerpoint/2010/main" val="1325818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6F127D-8866-2E4F-505D-83F0FD1E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7 :  Tables Of  Percentages Of Employees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u="sng" dirty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E16AC5-8DAB-3315-4C75-465C60BA5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168" y="1622323"/>
            <a:ext cx="7954297" cy="445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588E-A9C9-C5E6-B560-3D0E7AAB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06477"/>
            <a:ext cx="10772775" cy="79641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89467A-0582-F5D1-CB6A-6CE6AE88F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481781"/>
            <a:ext cx="11946193" cy="6169742"/>
          </a:xfrm>
        </p:spPr>
      </p:pic>
    </p:spTree>
    <p:extLst>
      <p:ext uri="{BB962C8B-B14F-4D97-AF65-F5344CB8AC3E}">
        <p14:creationId xmlns:p14="http://schemas.microsoft.com/office/powerpoint/2010/main" val="3603193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4ADF-EF0B-D6FF-54BB-5FF66EB2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472C0-F2C2-16A3-17EC-FF23B67FA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Presence is 91.9%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WFH is limited 9.9%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Monday &amp; Tuesday shows the highest Preference.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WFH Preference increases towards the end of the week.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Fridays shows lowest present percent.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key meetings , activities early in the week (Mon-Tue).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work for Thursday – Friday because lower presence in the office.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53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C3BB5-2AC4-6405-7518-6A9E6D9BB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19432"/>
            <a:ext cx="9144000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214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555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 Light</vt:lpstr>
      <vt:lpstr>Times New Roman</vt:lpstr>
      <vt:lpstr>Times New Roman </vt:lpstr>
      <vt:lpstr>Wingdings</vt:lpstr>
      <vt:lpstr>Metropolitan</vt:lpstr>
      <vt:lpstr>Employee Attendance &amp; WFH Trend Analysis</vt:lpstr>
      <vt:lpstr>Index</vt:lpstr>
      <vt:lpstr>Objectives</vt:lpstr>
      <vt:lpstr>    KPI 1 : Present Percentage &amp; Day Of  The Week  </vt:lpstr>
      <vt:lpstr>   KPI 2 : Work From Home (WFH) Percentage &amp; Day of the week                                                                                                                                               </vt:lpstr>
      <vt:lpstr>KPI 3 : Sick Leave(SL) Percentage &amp; Day of the week  </vt:lpstr>
      <vt:lpstr>KPI 4 : Present Percentage Trend </vt:lpstr>
      <vt:lpstr>KPI 5 : Work From Home Trend </vt:lpstr>
      <vt:lpstr>KPI 6 : Sick Leave Trend </vt:lpstr>
      <vt:lpstr>KPI 7 :  Tables Of  Percentages Of Employees  </vt:lpstr>
      <vt:lpstr>Power BI Dashboard 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sai</dc:creator>
  <cp:lastModifiedBy>Ajay sai</cp:lastModifiedBy>
  <cp:revision>2</cp:revision>
  <dcterms:created xsi:type="dcterms:W3CDTF">2026-01-13T10:36:13Z</dcterms:created>
  <dcterms:modified xsi:type="dcterms:W3CDTF">2026-01-19T07:59:11Z</dcterms:modified>
</cp:coreProperties>
</file>